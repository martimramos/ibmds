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1" r:id="rId7"/>
    <p:sldId id="332" r:id="rId8"/>
    <p:sldId id="263" r:id="rId11"/>
    <p:sldId id="264" r:id="rId14"/>
    <p:sldId id="266" r:id="rId15"/>
    <p:sldId id="276" r:id="rId17"/>
    <p:sldId id="293" r:id="rId19"/>
    <p:sldId id="269" r:id="rId22"/>
    <p:sldId id="304" r:id="rId23"/>
    <p:sldId id="305" r:id="rId24"/>
    <p:sldId id="307" r:id="rId25"/>
    <p:sldId id="306" r:id="rId26"/>
    <p:sldId id="308" r:id="rId27"/>
    <p:sldId id="333" r:id="rId61"/>
    <p:sldId id="270" r:id="rId28"/>
    <p:sldId id="334" r:id="rId62"/>
    <p:sldId id="335" r:id="rId63"/>
    <p:sldId id="317" r:id="rId37"/>
    <p:sldId id="296" r:id="rId39"/>
    <p:sldId id="319" r:id="rId41"/>
    <p:sldId id="322" r:id="rId43"/>
    <p:sldId id="323" r:id="rId44"/>
    <p:sldId id="324" r:id="rId45"/>
    <p:sldId id="289" r:id="rId47"/>
    <p:sldId id="320" r:id="rId48"/>
    <p:sldId id="274" r:id="rId49"/>
    <p:sldId id="275" r:id="rId50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117" d="100"/>
          <a:sy n="117" d="100"/>
        </p:scale>
        <p:origin x="184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7" Type="http://schemas.openxmlformats.org/officeDocument/2006/relationships/slide" Target="slides/slide13.xml"/><Relationship Id="rId19" Type="http://schemas.openxmlformats.org/officeDocument/2006/relationships/slide" Target="slides/slide15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37" Type="http://schemas.openxmlformats.org/officeDocument/2006/relationships/slide" Target="slides/slide33.xml"/><Relationship Id="rId39" Type="http://schemas.openxmlformats.org/officeDocument/2006/relationships/slide" Target="slides/slide35.xml"/><Relationship Id="rId41" Type="http://schemas.openxmlformats.org/officeDocument/2006/relationships/slide" Target="slides/slide37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commentAuthors" Target="commentAuthors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microsoft.com/office/2016/11/relationships/changesInfo" Target="changesInfos/changesInfo1.xml"/><Relationship Id="rId60" Type="http://schemas.microsoft.com/office/2015/10/relationships/revisionInfo" Target="revisionInfo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99" name="Watermark"/>
          <p:cNvSpPr txBox="1"/>
          <p:nvPr/>
        </p:nvSpPr>
        <p:spPr>
          <a:xfrm>
            <a:off x="768096" y="6355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AA4B2"/>
                </a:solidFill>
                <a:latin typeface="Abadi"/>
              </a:rPr>
              <a:t>Martim Ramos · IBM Data Science Capstone · SpaceX Falcon 9</a:t>
            </a:r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martimramos/ibmd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martimramos/ibmds/blob/main/01_spacex_data_collection_api.ipynb" TargetMode="External"/><Relationship Id="rId4" Type="http://schemas.openxmlformats.org/officeDocument/2006/relationships/hyperlink" Target="https://github.com/martimramos/ibmds/blob/main/02_spacex_webscraping.ipynb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martimramos/ibmds/blob/main/03_spacex_data_wrangling.ipynb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martimramos/ibmds/blob/main/05_spacex_eda_dataviz.ipynb" TargetMode="External"/><Relationship Id="rId4" Type="http://schemas.openxmlformats.org/officeDocument/2006/relationships/hyperlink" Target="https://github.com/martimramos/ibmds/blob/main/04_spacex_eda_sql.ipynb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martimramos/ibmds/blob/main/06_spacex_launch_site_location_folium.ipynb" TargetMode="External"/><Relationship Id="rId4" Type="http://schemas.openxmlformats.org/officeDocument/2006/relationships/hyperlink" Target="https://github.com/martimramos/ibmds/blob/main/07_spacex_dash_app.py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martimramos/ibmds/blob/main/08_spacex_machine_learning_prediction.ipynb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2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3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6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8.jpg"/><Relationship Id="rId5" Type="http://schemas.openxmlformats.org/officeDocument/2006/relationships/hyperlink" Target="https://github.com/martimramos/ibmds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Martim Ramos</a:t>
            </a:r>
          </a:p>
          <a:p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21 October 2026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80644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Abadi"/>
              </a:rPr>
              <a:t>GitHub: </a:t>
            </a:r>
            <a:r>
              <a:rPr sz="1200" b="0" i="0">
                <a:solidFill>
                  <a:srgbClr val="FFFFFF"/>
                </a:solidFill>
                <a:latin typeface="Abadi"/>
              </a:rPr>
              <a:t>https://github.com/martimramos/ibmds</a:t>
            </a:r>
          </a:p>
        </p:txBody>
      </p:sp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8096" y="137160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0B49CB"/>
                </a:solidFill>
                <a:latin typeface="Abadi"/>
              </a:rPr>
              <a:t>Summary of methodologies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1764792"/>
            <a:ext cx="502920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Data collection: SpaceX REST API + Wikipedia web scraping → 90 Falcon 9 launches (2010–2020)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Data wrangling: landing outcome → binary label Class (1 = landed); one-hot encoding → 80 features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EDA with visualization (Seaborn) and SQL (10 queries on SQLite)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Interactive visual analytics: Folium maps and a Plotly Dash dashboard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Predictive analysis: Logistic Regression, SVM, Decision Tree, KNN tuned with GridSearchCV (cv = 10)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371600"/>
            <a:ext cx="5166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0B49CB"/>
                </a:solidFill>
                <a:latin typeface="Abadi"/>
              </a:rPr>
              <a:t>Summary of all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764792"/>
            <a:ext cx="516636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EDA: 66.7% of launches landed; success rose from 0% (2010–13) to 90% (2019) and grows with flight number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SQL: 4 launch sites; NASA (CRS) payload 45,596 kg; first ground-pad landing 22 Dec 2015; 100 of 101 missions succeeded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Folium: all sites are coastal; KSC LC-39A has the best success ratio; CCAFS SLC-40 is 0.49 km from the coast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Dash: KSC LC-39A has 41.7% of all successes and a 76.9% success ratio; 2,000–4,000 kg payloads land most often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Classification: LogReg, SVM and KNN reach 83.3% test accuracy; SVM is best (84.8% CV), Decision Tree 72.2%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532120"/>
            <a:ext cx="1042416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Abadi"/>
              </a:rPr>
              <a:t>GitHub repository (all notebooks + Dash app): </a:t>
            </a:r>
            <a:r>
              <a:rPr sz="1200" b="0" i="0">
                <a:solidFill>
                  <a:srgbClr val="1C7DDB"/>
                </a:solidFill>
                <a:latin typeface="Abadi"/>
                <a:hlinkClick r:id="rId3"/>
              </a:rPr>
              <a:t>https://github.com/martimramos/ibmds</a:t>
            </a:r>
            <a:r>
              <a:rPr sz="1200" b="0" i="0">
                <a:solidFill>
                  <a:srgbClr val="525252"/>
                </a:solidFill>
                <a:latin typeface="Abad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8096" y="14173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0B49CB"/>
                </a:solidFill>
                <a:latin typeface="Abadi"/>
              </a:rPr>
              <a:t>Project background and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1828800"/>
            <a:ext cx="5486400" cy="3017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500" b="0" i="0">
                <a:solidFill>
                  <a:srgbClr val="1F2937"/>
                </a:solidFill>
                <a:latin typeface="Abadi"/>
              </a:rPr>
              <a:t>SpaceX advertises Falcon 9 launches at about $62 M; other providers charge upwards of $165 M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500" b="0" i="0">
                <a:solidFill>
                  <a:srgbClr val="1F2937"/>
                </a:solidFill>
                <a:latin typeface="Abadi"/>
              </a:rPr>
              <a:t>Most of the saving comes from landing and reusing the first stage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500" b="0" i="0">
                <a:solidFill>
                  <a:srgbClr val="1F2937"/>
                </a:solidFill>
                <a:latin typeface="Abadi"/>
              </a:rPr>
              <a:t>If we can predict whether the first stage will land, we can estimate the cost of a launch, which is useful for a competitor such as Space Y bidding against SpaceX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41732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0B49CB"/>
                </a:solidFill>
                <a:latin typeface="Abadi"/>
              </a:rPr>
              <a:t>Problems we want to find answers to</a:t>
            </a:r>
          </a:p>
        </p:txBody>
      </p:sp>
      <p:sp>
        <p:nvSpPr>
          <p:cNvPr id="23" name="Oval 22"/>
          <p:cNvSpPr/>
          <p:nvPr/>
        </p:nvSpPr>
        <p:spPr>
          <a:xfrm>
            <a:off x="6675120" y="1874519"/>
            <a:ext cx="502920" cy="502920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bad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1819655"/>
            <a:ext cx="397763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badi"/>
              </a:rPr>
              <a:t>Which factors (site, payload, orbit, booster, flight history) drive a successful landing?</a:t>
            </a:r>
          </a:p>
        </p:txBody>
      </p:sp>
      <p:sp>
        <p:nvSpPr>
          <p:cNvPr id="26" name="Oval 25"/>
          <p:cNvSpPr/>
          <p:nvPr/>
        </p:nvSpPr>
        <p:spPr>
          <a:xfrm>
            <a:off x="6675120" y="2807208"/>
            <a:ext cx="502920" cy="502920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807208"/>
            <a:ext cx="502920" cy="5029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bad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752344"/>
            <a:ext cx="397763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badi"/>
              </a:rPr>
              <a:t>How has landing success changed over time?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3739896"/>
            <a:ext cx="502920" cy="502920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739896"/>
            <a:ext cx="502920" cy="5029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bad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685032"/>
            <a:ext cx="397763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badi"/>
              </a:rPr>
              <a:t>Where are the launch sites, and what surrounds them?</a:t>
            </a:r>
          </a:p>
        </p:txBody>
      </p:sp>
      <p:sp>
        <p:nvSpPr>
          <p:cNvPr id="32" name="Oval 31"/>
          <p:cNvSpPr/>
          <p:nvPr/>
        </p:nvSpPr>
        <p:spPr>
          <a:xfrm>
            <a:off x="6675120" y="4672583"/>
            <a:ext cx="502920" cy="502920"/>
          </a:xfrm>
          <a:prstGeom prst="ellipse">
            <a:avLst/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672583"/>
            <a:ext cx="502920" cy="5029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bad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617720"/>
            <a:ext cx="397763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badi"/>
              </a:rPr>
              <a:t>Can a classifier predict the landing outcome, and how reliably?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Methodology: SpaceX API and Web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8096" y="13258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0B49CB"/>
                </a:solidFill>
                <a:latin typeface="Abadi"/>
              </a:rPr>
              <a:t>SpaceX REST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1737360"/>
            <a:ext cx="502920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1F2937"/>
                </a:solidFill>
                <a:latin typeface="Abadi"/>
              </a:rPr>
              <a:t>GET /v4/launches/past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82696" y="2176272"/>
            <a:ext cx="0" cy="18288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8096" y="2359152"/>
            <a:ext cx="502920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1F2937"/>
                </a:solidFill>
                <a:latin typeface="Abadi"/>
              </a:rPr>
              <a:t>json_normalize → launch table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82696" y="2798064"/>
            <a:ext cx="0" cy="18288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68096" y="2980944"/>
            <a:ext cx="502920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1F2937"/>
                </a:solidFill>
                <a:latin typeface="Abadi"/>
              </a:rPr>
              <a:t>Look up rockets, launchpads, payloads, cores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82696" y="3419856"/>
            <a:ext cx="0" cy="18288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68096" y="3602736"/>
            <a:ext cx="502920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1F2937"/>
                </a:solidFill>
                <a:latin typeface="Abadi"/>
              </a:rPr>
              <a:t>Filter Falcon 9 (90), impute payload mean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82696" y="4041648"/>
            <a:ext cx="0" cy="18288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68096" y="4224527"/>
            <a:ext cx="5029200" cy="438912"/>
          </a:xfrm>
          <a:prstGeom prst="roundRect">
            <a:avLst>
              <a:gd name="adj" fmla="val 6000"/>
            </a:avLst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Abadi"/>
              </a:rPr>
              <a:t>dataset_part_1.csv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846320"/>
            <a:ext cx="5029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25252"/>
                </a:solidFill>
                <a:latin typeface="Abadi"/>
              </a:rPr>
              <a:t>Single-core, single-payload launches up to 13 Nov 2020; 26 missing LandingPad values kept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440680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badi"/>
              </a:rPr>
              <a:t>GitHub lab URL: </a:t>
            </a:r>
            <a:r>
              <a:rPr sz="1100" b="0" i="0">
                <a:solidFill>
                  <a:srgbClr val="1C7DDB"/>
                </a:solidFill>
                <a:latin typeface="Abadi"/>
                <a:hlinkClick r:id="rId3"/>
              </a:rPr>
              <a:t>https://github.com/martimramos/ibmds/blob/main/01_spacex_data_collection_api.ipynb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13258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0B49CB"/>
                </a:solidFill>
                <a:latin typeface="Abadi"/>
              </a:rPr>
              <a:t>Web scraping (Wikipedia)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1737360"/>
            <a:ext cx="502920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1F2937"/>
                </a:solidFill>
                <a:latin typeface="Abadi"/>
              </a:rPr>
              <a:t>requests.get(fixed wiki revision)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77656" y="2176272"/>
            <a:ext cx="0" cy="18288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63056" y="2359152"/>
            <a:ext cx="502920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1F2937"/>
                </a:solidFill>
                <a:latin typeface="Abadi"/>
              </a:rPr>
              <a:t>BeautifulSoup(response.text)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77656" y="2798064"/>
            <a:ext cx="0" cy="18288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63056" y="2980944"/>
            <a:ext cx="502920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1F2937"/>
                </a:solidFill>
                <a:latin typeface="Abadi"/>
              </a:rPr>
              <a:t>find_all('table') → column names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77656" y="3419856"/>
            <a:ext cx="0" cy="18288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63056" y="3602736"/>
            <a:ext cx="502920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1F2937"/>
                </a:solidFill>
                <a:latin typeface="Abadi"/>
              </a:rPr>
              <a:t>Parse each &lt;tr&gt; into launch_dict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77656" y="4041648"/>
            <a:ext cx="0" cy="18288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63056" y="4224527"/>
            <a:ext cx="5029200" cy="438912"/>
          </a:xfrm>
          <a:prstGeom prst="roundRect">
            <a:avLst>
              <a:gd name="adj" fmla="val 6000"/>
            </a:avLst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Abadi"/>
              </a:rPr>
              <a:t>spacex_web_scraped.csv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3056" y="4846320"/>
            <a:ext cx="50292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525252"/>
                </a:solidFill>
                <a:latin typeface="Abadi"/>
              </a:rPr>
              <a:t>“List of Falcon 9 and Falcon Heavy launches”: flight, date, booster, site, payload, mass, orbit, customer, 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5440680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badi"/>
              </a:rPr>
              <a:t>GitHub lab URL: </a:t>
            </a:r>
            <a:r>
              <a:rPr sz="1100" b="0" i="0">
                <a:solidFill>
                  <a:srgbClr val="1C7DDB"/>
                </a:solidFill>
                <a:latin typeface="Abadi"/>
                <a:hlinkClick r:id="rId4"/>
              </a:rPr>
              <a:t>https://github.com/martimramos/ibmds/blob/main/02_spacex_webscraping.ipynb</a:t>
            </a: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417320"/>
            <a:ext cx="4937760" cy="3931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500" b="0" i="0">
                <a:solidFill>
                  <a:srgbClr val="1F2937"/>
                </a:solidFill>
                <a:latin typeface="Abadi"/>
              </a:rPr>
              <a:t>Checked missing values and data types per column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500" b="0" i="0">
                <a:solidFill>
                  <a:srgbClr val="1F2937"/>
                </a:solidFill>
                <a:latin typeface="Abadi"/>
              </a:rPr>
              <a:t>Counted launches per site, per orbit and per landing outcome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500" b="0" i="0">
                <a:solidFill>
                  <a:srgbClr val="1F2937"/>
                </a:solidFill>
                <a:latin typeface="Abadi"/>
              </a:rPr>
              <a:t>Outcome = mission result + landing type (ASDS = drone ship, RTLS = ground pad, Ocean)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500" b="0" i="0">
                <a:solidFill>
                  <a:srgbClr val="1F2937"/>
                </a:solidFill>
                <a:latin typeface="Abadi"/>
              </a:rPr>
              <a:t>Defined bad_outcomes = landing ‘False’ or ‘None’ → Class 0; otherwise Class 1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500" b="0" i="0">
                <a:solidFill>
                  <a:srgbClr val="1F2937"/>
                </a:solidFill>
                <a:latin typeface="Abadi"/>
              </a:rPr>
              <a:t>Overall success rate: 66.7% → saved as dataset_part_2.csv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500" b="0" i="0">
                <a:solidFill>
                  <a:srgbClr val="1F2937"/>
                </a:solidFill>
                <a:latin typeface="Abadi"/>
              </a:rPr>
              <a:t>For modelling: one-hot encoded Orbit, LaunchSite, LandingPad, Serial → 80 numeric features (dataset_part_3.csv)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1417320"/>
          <a:ext cx="502920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58720"/>
                <a:gridCol w="1452880"/>
                <a:gridCol w="1117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badi"/>
                        </a:rPr>
                        <a:t>Outcome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badi"/>
                        </a:rPr>
                        <a:t>Launches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badi"/>
                        </a:rPr>
                        <a:t>Class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True ASDS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41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None None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True RTLS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False ASDS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True Ocean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False Ocean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None ASDS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False RTLS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8096" y="5577840"/>
            <a:ext cx="10424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badi"/>
              </a:rPr>
              <a:t>GitHub lab URL: </a:t>
            </a:r>
            <a:r>
              <a:rPr sz="1100" b="0" i="0">
                <a:solidFill>
                  <a:srgbClr val="1C7DDB"/>
                </a:solidFill>
                <a:latin typeface="Abadi"/>
                <a:hlinkClick r:id="rId3"/>
              </a:rPr>
              <a:t>https://github.com/martimramos/ibmds/blob/main/03_spacex_data_wrangling.ipynb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Methodology: Data Visualization and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3258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0B49CB"/>
                </a:solidFill>
                <a:latin typeface="Abadi"/>
              </a:rPr>
              <a:t>Charts plotted, and why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8096" y="1737360"/>
          <a:ext cx="5120639" cy="2688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079"/>
                <a:gridCol w="21945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badi"/>
                        </a:rPr>
                        <a:t>Chart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badi"/>
                        </a:rPr>
                        <a:t>Purpose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Flight Number vs. Launch Site (scatter)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experience effect per site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Payload vs. Launch Site (scatter)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payload limits per site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Success rate by Orbit (bar)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compare mission profiles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Flight Number vs. Orbit (scatter)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experience effect per orbit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Payload vs. Orbit (scatter)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payload effect per orbit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Yearly success rate (line)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trend over time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13258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0B49CB"/>
                </a:solidFill>
                <a:latin typeface="Abadi"/>
              </a:rPr>
              <a:t>SQL queries performed (SQLite, %sql)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737360"/>
            <a:ext cx="512064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2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Distinct launch site names</a:t>
            </a:r>
          </a:p>
          <a:p>
            <a:pPr marL="201168" indent="-182880">
              <a:spcAft>
                <a:spcPts val="2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5 records where site begins with ‘CCA’</a:t>
            </a:r>
          </a:p>
          <a:p>
            <a:pPr marL="201168" indent="-182880">
              <a:spcAft>
                <a:spcPts val="2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Total payload mass for NASA (CRS)</a:t>
            </a:r>
          </a:p>
          <a:p>
            <a:pPr marL="201168" indent="-182880">
              <a:spcAft>
                <a:spcPts val="2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Average payload mass of F9 v1.1</a:t>
            </a:r>
          </a:p>
          <a:p>
            <a:pPr marL="201168" indent="-182880">
              <a:spcAft>
                <a:spcPts val="2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First successful ground-pad landing date</a:t>
            </a:r>
          </a:p>
          <a:p>
            <a:pPr marL="201168" indent="-182880">
              <a:spcAft>
                <a:spcPts val="2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Drone-ship successes with 4,000–6,000 kg payload</a:t>
            </a:r>
          </a:p>
          <a:p>
            <a:pPr marL="201168" indent="-182880">
              <a:spcAft>
                <a:spcPts val="2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Count of mission outcomes</a:t>
            </a:r>
          </a:p>
          <a:p>
            <a:pPr marL="201168" indent="-182880">
              <a:spcAft>
                <a:spcPts val="2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Boosters with the maximum payload (sub-query)</a:t>
            </a:r>
          </a:p>
          <a:p>
            <a:pPr marL="201168" indent="-182880">
              <a:spcAft>
                <a:spcPts val="2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2015 drone-ship failures (month, booster, site)</a:t>
            </a:r>
          </a:p>
          <a:p>
            <a:pPr marL="201168" indent="-182880">
              <a:spcAft>
                <a:spcPts val="2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Rank landing outcomes 2010-06-04 to 2017-03-20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504688"/>
            <a:ext cx="104241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badi"/>
              </a:rPr>
              <a:t>GitHub lab URL: </a:t>
            </a:r>
            <a:r>
              <a:rPr sz="1100" b="0" i="0">
                <a:solidFill>
                  <a:srgbClr val="1C7DDB"/>
                </a:solidFill>
                <a:latin typeface="Abadi"/>
                <a:hlinkClick r:id="rId3"/>
              </a:rPr>
              <a:t>https://github.com/martimramos/ibmds/blob/main/05_spacex_eda_dataviz.ipynb</a:t>
            </a:r>
          </a:p>
          <a:p>
            <a:pPr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badi"/>
              </a:rPr>
              <a:t>GitHub lab URL: </a:t>
            </a:r>
            <a:r>
              <a:rPr sz="1100" b="0" i="0">
                <a:solidFill>
                  <a:srgbClr val="1C7DDB"/>
                </a:solidFill>
                <a:latin typeface="Abadi"/>
                <a:hlinkClick r:id="rId4"/>
              </a:rPr>
              <a:t>https://github.com/martimramos/ibmds/blob/main/04_spacex_eda_sql.ipynb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Interactive Visual Analytics Methodology: Folium and Plotly Dash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8096" y="13258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0B49CB"/>
                </a:solidFill>
                <a:latin typeface="Abadi"/>
              </a:rPr>
              <a:t>Folium map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37360"/>
            <a:ext cx="512064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1F2937"/>
                </a:solidFill>
                <a:latin typeface="Abadi"/>
              </a:rPr>
              <a:t>Circle + Marker with DivIcon label </a:t>
            </a:r>
            <a:r>
              <a:rPr sz="1400" b="0" i="0">
                <a:solidFill>
                  <a:srgbClr val="1F2937"/>
                </a:solidFill>
                <a:latin typeface="Abadi"/>
              </a:rPr>
              <a:t>for each launch site, to locate all sites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1F2937"/>
                </a:solidFill>
                <a:latin typeface="Abadi"/>
              </a:rPr>
              <a:t>MarkerCluster </a:t>
            </a:r>
            <a:r>
              <a:rPr sz="1400" b="0" i="0">
                <a:solidFill>
                  <a:srgbClr val="1F2937"/>
                </a:solidFill>
                <a:latin typeface="Abadi"/>
              </a:rPr>
              <a:t>of all 56 launch records, to group launches per site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1F2937"/>
                </a:solidFill>
                <a:latin typeface="Abadi"/>
              </a:rPr>
              <a:t>Green / red Icons </a:t>
            </a:r>
            <a:r>
              <a:rPr sz="1400" b="0" i="0">
                <a:solidFill>
                  <a:srgbClr val="1F2937"/>
                </a:solidFill>
                <a:latin typeface="Abadi"/>
              </a:rPr>
              <a:t>for landed / failed, to read site success at a glance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1F2937"/>
                </a:solidFill>
                <a:latin typeface="Abadi"/>
              </a:rPr>
              <a:t>MousePosition </a:t>
            </a:r>
            <a:r>
              <a:rPr sz="1400" b="0" i="0">
                <a:solidFill>
                  <a:srgbClr val="1F2937"/>
                </a:solidFill>
                <a:latin typeface="Abadi"/>
              </a:rPr>
              <a:t>to read coordinates of coast, roads, rail and cities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1F2937"/>
                </a:solidFill>
                <a:latin typeface="Abadi"/>
              </a:rPr>
              <a:t>PolyLine + distance label </a:t>
            </a:r>
            <a:r>
              <a:rPr sz="1400" b="0" i="0">
                <a:solidFill>
                  <a:srgbClr val="1F2937"/>
                </a:solidFill>
                <a:latin typeface="Abadi"/>
              </a:rPr>
              <a:t>(Haversine), to measure proximity to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3258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0B49CB"/>
                </a:solidFill>
                <a:latin typeface="Abadi"/>
              </a:rPr>
              <a:t>Plotly Dash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737360"/>
            <a:ext cx="512064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1F2937"/>
                </a:solidFill>
                <a:latin typeface="Abadi"/>
              </a:rPr>
              <a:t>Dropdown </a:t>
            </a:r>
            <a:r>
              <a:rPr sz="1400" b="0" i="0">
                <a:solidFill>
                  <a:srgbClr val="1F2937"/>
                </a:solidFill>
                <a:latin typeface="Abadi"/>
              </a:rPr>
              <a:t>(All Sites or one site): drives both charts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1F2937"/>
                </a:solidFill>
                <a:latin typeface="Abadi"/>
              </a:rPr>
              <a:t>Pie chart: </a:t>
            </a:r>
            <a:r>
              <a:rPr sz="1400" b="0" i="0">
                <a:solidFill>
                  <a:srgbClr val="1F2937"/>
                </a:solidFill>
                <a:latin typeface="Abadi"/>
              </a:rPr>
              <a:t>share of successes by site, or success vs. failure for one site, to compare and drill down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1F2937"/>
                </a:solidFill>
                <a:latin typeface="Abadi"/>
              </a:rPr>
              <a:t>Range slider </a:t>
            </a:r>
            <a:r>
              <a:rPr sz="1400" b="0" i="0">
                <a:solidFill>
                  <a:srgbClr val="1F2937"/>
                </a:solidFill>
                <a:latin typeface="Abadi"/>
              </a:rPr>
              <a:t>(payload 0–10,000 kg), to isolate payload bands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1F2937"/>
                </a:solidFill>
                <a:latin typeface="Abadi"/>
              </a:rPr>
              <a:t>Scatter plot: </a:t>
            </a:r>
            <a:r>
              <a:rPr sz="1400" b="0" i="0">
                <a:solidFill>
                  <a:srgbClr val="1F2937"/>
                </a:solidFill>
                <a:latin typeface="Abadi"/>
              </a:rPr>
              <a:t>payload vs. outcome coloured by booster version, to spot payload and booster effects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1F2937"/>
                </a:solidFill>
                <a:latin typeface="Abadi"/>
              </a:rPr>
              <a:t>Two callbacks </a:t>
            </a:r>
            <a:r>
              <a:rPr sz="1400" b="0" i="0">
                <a:solidFill>
                  <a:srgbClr val="1F2937"/>
                </a:solidFill>
                <a:latin typeface="Abadi"/>
              </a:rPr>
              <a:t>connect the inputs to the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504688"/>
            <a:ext cx="104241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badi"/>
              </a:rPr>
              <a:t>GitHub lab URL: </a:t>
            </a:r>
            <a:r>
              <a:rPr sz="1100" b="0" i="0">
                <a:solidFill>
                  <a:srgbClr val="1C7DDB"/>
                </a:solidFill>
                <a:latin typeface="Abadi"/>
                <a:hlinkClick r:id="rId3"/>
              </a:rPr>
              <a:t>https://github.com/martimramos/ibmds/blob/main/06_spacex_launch_site_location_folium.ipynb</a:t>
            </a:r>
          </a:p>
          <a:p>
            <a:pPr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badi"/>
              </a:rPr>
              <a:t>GitHub lab URL: </a:t>
            </a:r>
            <a:r>
              <a:rPr sz="1100" b="0" i="0">
                <a:solidFill>
                  <a:srgbClr val="1C7DDB"/>
                </a:solidFill>
                <a:latin typeface="Abadi"/>
                <a:hlinkClick r:id="rId4"/>
              </a:rPr>
              <a:t>https://github.com/martimramos/ibmds/blob/main/07_spacex_dash_app.py</a:t>
            </a: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Methodology (Classification)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463040"/>
            <a:ext cx="152704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 i="0">
                <a:solidFill>
                  <a:srgbClr val="1F2937"/>
                </a:solidFill>
                <a:latin typeface="Abadi"/>
              </a:rPr>
              <a:t>Load data</a:t>
            </a:r>
          </a:p>
          <a:p>
            <a:pPr algn="ctr"/>
            <a:r>
              <a:rPr sz="1100" b="0" i="0">
                <a:solidFill>
                  <a:srgbClr val="1F2937"/>
                </a:solidFill>
                <a:latin typeface="Abadi"/>
              </a:rPr>
              <a:t>Y = Class, X = 80 features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95144" y="2011680"/>
            <a:ext cx="274319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69464" y="1463040"/>
            <a:ext cx="152704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 i="0">
                <a:solidFill>
                  <a:srgbClr val="1F2937"/>
                </a:solidFill>
                <a:latin typeface="Abadi"/>
              </a:rPr>
              <a:t>Scale</a:t>
            </a:r>
          </a:p>
          <a:p>
            <a:pPr algn="ctr"/>
            <a:r>
              <a:rPr sz="1100" b="0" i="0">
                <a:solidFill>
                  <a:srgbClr val="1F2937"/>
                </a:solidFill>
                <a:latin typeface="Abadi"/>
              </a:rPr>
              <a:t>StandardScaler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96512" y="2011680"/>
            <a:ext cx="274320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70832" y="1463040"/>
            <a:ext cx="152704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 i="0">
                <a:solidFill>
                  <a:srgbClr val="1F2937"/>
                </a:solidFill>
                <a:latin typeface="Abadi"/>
              </a:rPr>
              <a:t>Split 80/20</a:t>
            </a:r>
          </a:p>
          <a:p>
            <a:pPr algn="ctr"/>
            <a:r>
              <a:rPr sz="1100" b="0" i="0">
                <a:solidFill>
                  <a:srgbClr val="1F2937"/>
                </a:solidFill>
                <a:latin typeface="Abadi"/>
              </a:rPr>
              <a:t>72 train / 18 test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2011680"/>
            <a:ext cx="274320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72200" y="1463040"/>
            <a:ext cx="152704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 i="0">
                <a:solidFill>
                  <a:srgbClr val="1F2937"/>
                </a:solidFill>
                <a:latin typeface="Abadi"/>
              </a:rPr>
              <a:t>GridSearchCV</a:t>
            </a:r>
          </a:p>
          <a:p>
            <a:pPr algn="ctr"/>
            <a:r>
              <a:rPr sz="1100" b="0" i="0">
                <a:solidFill>
                  <a:srgbClr val="1F2937"/>
                </a:solidFill>
                <a:latin typeface="Abadi"/>
              </a:rPr>
              <a:t>cv = 10, 4 models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99248" y="2011680"/>
            <a:ext cx="274320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73568" y="1463040"/>
            <a:ext cx="1527048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 i="0">
                <a:solidFill>
                  <a:srgbClr val="1F2937"/>
                </a:solidFill>
                <a:latin typeface="Abadi"/>
              </a:rPr>
              <a:t>Evaluate</a:t>
            </a:r>
          </a:p>
          <a:p>
            <a:pPr algn="ctr"/>
            <a:r>
              <a:rPr sz="1100" b="0" i="0">
                <a:solidFill>
                  <a:srgbClr val="1F2937"/>
                </a:solidFill>
                <a:latin typeface="Abadi"/>
              </a:rPr>
              <a:t>accuracy, confusion matrix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00616" y="2011680"/>
            <a:ext cx="274320" cy="0"/>
          </a:xfrm>
          <a:prstGeom prst="line">
            <a:avLst/>
          </a:prstGeom>
          <a:ln w="22225">
            <a:solidFill>
              <a:srgbClr val="0B49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74936" y="1463040"/>
            <a:ext cx="1527048" cy="1097280"/>
          </a:xfrm>
          <a:prstGeom prst="roundRect">
            <a:avLst>
              <a:gd name="adj" fmla="val 6000"/>
            </a:avLst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Abadi"/>
              </a:rPr>
              <a:t>Improve &amp; pick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badi"/>
              </a:rPr>
              <a:t>repeated CV, best model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68096" y="2834640"/>
          <a:ext cx="10515599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3809"/>
                <a:gridCol w="5503491"/>
                <a:gridCol w="294829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badi"/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badi"/>
                        </a:rPr>
                        <a:t>Hyper-parameter grid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badi"/>
                        </a:rPr>
                        <a:t>Best parameters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Logistic Regression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C ∈ {0.01, 0.1, 1}, l2, lbfgs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C =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SVM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kernel ∈ {linear, rbf, poly, sigmoid}, C, γ ∈ logspace(-3, 3, 5)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sigmoid, C = 1, γ = 0.032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Decision Tree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gini/entropy, best/random, depth 2–18, leaf, split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gini, depth 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KNN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k = 1–10, algorithm, p ∈ {1, 2}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k = 6, p = 1 (Manhattan)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" y="4892040"/>
            <a:ext cx="104241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badi"/>
              </a:rPr>
              <a:t>Built 4 models, evaluated each on the held-out test set, improved the choice by re-scoring with 20× repeated 5-fold CV, and selected the model with the best accuracy.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577840"/>
            <a:ext cx="10424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badi"/>
              </a:rPr>
              <a:t>GitHub lab URL: </a:t>
            </a:r>
            <a:r>
              <a:rPr sz="1100" b="0" i="0">
                <a:solidFill>
                  <a:srgbClr val="1C7DDB"/>
                </a:solidFill>
                <a:latin typeface="Abadi"/>
                <a:hlinkClick r:id="rId3"/>
              </a:rPr>
              <a:t>https://github.com/martimramos/ibmds/blob/main/08_spacex_machine_learning_prediction.ipynb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Visualization: Flight Number vs. Launch Site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1417320"/>
            <a:ext cx="3611880" cy="3566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Scatter plot of flight number vs. launch site, coloured by outcome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CCAFS SLC 40 hosts 55 of 90 launches, including most early failures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VAFB SLC 4E and KSC LC 39A came online after ~flight 20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At every site later flights are mostly successes</a:t>
            </a:r>
          </a:p>
        </p:txBody>
      </p:sp>
      <p:pic>
        <p:nvPicPr>
          <p:cNvPr id="7" name="Picture 6" descr="eda_flight_si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654" y="1417320"/>
            <a:ext cx="6281530" cy="361188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68096" y="516636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5166360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Landing success grows with flight number at all sites; the site effect is partly an experience effect.</a:t>
            </a: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Visualization: Payload vs. Launch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417320"/>
            <a:ext cx="3611880" cy="3566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Scatter plot of payload mass vs. launch site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VAFB SLC 4E launched no payload above 10,000 kg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Heavy payloads (&gt; 12,000 kg) flew from CCAFS and KSC and nearly all landed</a:t>
            </a:r>
          </a:p>
        </p:txBody>
      </p:sp>
      <p:pic>
        <p:nvPicPr>
          <p:cNvPr id="7" name="Picture 6" descr="eda_payload_si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654" y="1417320"/>
            <a:ext cx="6281530" cy="361188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68096" y="516636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5166360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Site success rates: KSC 77%, VAFB 77%, CCAFS 60%. Payload alone does not explain failures.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Visualization: 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1417320"/>
            <a:ext cx="3611880" cy="3566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Bar chart of landing success rate for each orbit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ES-L1, GEO, HEO, SSO: 100% (n ≤ 5)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VLEO 86%, LEO 71%, PO 67%, ISS 62%, GTO 52%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SO: 0% (one launch)</a:t>
            </a:r>
          </a:p>
        </p:txBody>
      </p:sp>
      <p:pic>
        <p:nvPicPr>
          <p:cNvPr id="7" name="Picture 6" descr="eda_orbit_ra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520" y="1417319"/>
            <a:ext cx="6019800" cy="361188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68096" y="516636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5166360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GTO (27 launches) and ISS (21) are the real hard cases; the 100% orbits have very few launches.</a:t>
            </a: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Visualization: 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1417320"/>
            <a:ext cx="3611880" cy="3566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Scatter plot of flight number vs. orbit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LEO: success appears related to the number of flights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GTO: no clear relationship with flight number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VLEO starts after flight ~60 and mostly lands</a:t>
            </a:r>
          </a:p>
        </p:txBody>
      </p:sp>
      <p:pic>
        <p:nvPicPr>
          <p:cNvPr id="7" name="Picture 6" descr="eda_flight_orb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916" y="1417320"/>
            <a:ext cx="5779008" cy="361188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68096" y="516636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5166360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Newer orbit types (VLEO, SSO) were flown once SpaceX was experienced, which inflates their success rates.</a:t>
            </a: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Visualization: Payload vs. Orbit Type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1417320"/>
            <a:ext cx="3611880" cy="3566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Scatter plot of payload mass vs. orbit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Heavy payloads land more often for Polar, LEO and ISS orbits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GTO mixes successes and failures at every payload level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VLEO carries the heaviest payloads (15,600 kg)</a:t>
            </a:r>
          </a:p>
        </p:txBody>
      </p:sp>
      <p:pic>
        <p:nvPicPr>
          <p:cNvPr id="7" name="Picture 6" descr="eda_payload_orb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916" y="1417320"/>
            <a:ext cx="5779008" cy="361188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68096" y="516636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5166360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Payload interacts with orbit: heavy is fine for LEO-type missions, while GTO stays uncertain at any mass.</a:t>
            </a: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Visualization: Launch Success Yearly 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417320"/>
            <a:ext cx="3611880" cy="3566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Line chart of the average success rate per year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2010–2013: 0%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2014–2015: 33%; 2016: 62%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2017: 83%, dip in 2018 (61%)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2019: 90%; 2020: 84%</a:t>
            </a:r>
          </a:p>
        </p:txBody>
      </p:sp>
      <p:pic>
        <p:nvPicPr>
          <p:cNvPr id="7" name="Picture 6" descr="eda_year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654" y="1417320"/>
            <a:ext cx="6281530" cy="361188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68096" y="516636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5166360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The success rate has kept increasing since 2013, which is consistent with a strong learning curve.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SQL: Launch Sites and ‘CCA’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32588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Q1  </a:t>
            </a:r>
            <a:r>
              <a:rPr sz="1300" b="1" i="0">
                <a:solidFill>
                  <a:srgbClr val="1F2937"/>
                </a:solidFill>
                <a:latin typeface="Abadi"/>
              </a:rPr>
              <a:t>Find the names of the unique launch sites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1627632"/>
            <a:ext cx="5486400" cy="960119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SELECT DISTINCT Launch_Site</a:t>
            </a:r>
          </a:p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FROM SPACEXTABLE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46520" y="1627632"/>
          <a:ext cx="484632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46320"/>
              </a:tblGrid>
              <a:tr h="1828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badi"/>
                        </a:rPr>
                        <a:t>Launch_Site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VAFB SLC-4E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KSC LC-39A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CCAFS SLC-40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" y="278892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Q2  </a:t>
            </a:r>
            <a:r>
              <a:rPr sz="1300" b="1" i="0">
                <a:solidFill>
                  <a:srgbClr val="1F2937"/>
                </a:solidFill>
                <a:latin typeface="Abadi"/>
              </a:rPr>
              <a:t>Find 5 records where launch sites begin with ‘CCA’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3090672"/>
            <a:ext cx="5486400" cy="54864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SELECT * FROM SPACEXTABLE</a:t>
            </a:r>
          </a:p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WHERE Launch_Site LIKE 'CCA%'</a:t>
            </a:r>
          </a:p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LIMIT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090672"/>
            <a:ext cx="4846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badi"/>
              </a:rPr>
              <a:t>Result (5 rows) shown below: all are F9 v1.0 flights from CCAFS LC-40, 2010–2013.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68096" y="3749039"/>
          <a:ext cx="10515597" cy="14813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8400"/>
                <a:gridCol w="1557866"/>
                <a:gridCol w="1363133"/>
                <a:gridCol w="3894666"/>
                <a:gridCol w="681566"/>
                <a:gridCol w="1849966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badi"/>
                        </a:rPr>
                        <a:t>Date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badi"/>
                        </a:rPr>
                        <a:t>Booster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badi"/>
                        </a:rPr>
                        <a:t>Site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badi"/>
                        </a:rPr>
                        <a:t>Payload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badi"/>
                        </a:rPr>
                        <a:t>kg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badi"/>
                        </a:rPr>
                        <a:t>Landing_Outcome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2010-06-04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F9 v1.0  B0003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Dragon Spacecraft Qualification Unit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Failure (parachute)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2010-12-08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F9 v1.0  B0004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Dragon demo flight C1, two CubeSats, b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Failure (parachute)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2012-05-22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F9 v1.0  B0005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Dragon demo flight C2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525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No attempt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2012-10-08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F9 v1.0  B0006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SpaceX CRS-1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500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No attempt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2013-03-01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F9 v1.0  B0007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SpaceX CRS-2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677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No attempt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68096" y="525780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5257800"/>
            <a:ext cx="102412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4 launch sites (3 Florida, 1 California). The first CCA records are early Dragon demo and NASA CRS flights.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SQL: Rank Landing Outcomes (2010-06-04 to 2017-03-20)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32588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Q10  </a:t>
            </a:r>
            <a:r>
              <a:rPr sz="1300" b="1" i="0">
                <a:solidFill>
                  <a:srgbClr val="1F2937"/>
                </a:solidFill>
                <a:latin typeface="Abadi"/>
              </a:rPr>
              <a:t>Rank the count of landing outcomes between 2010-06-04 and 2017-03-20, in descending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1691640"/>
            <a:ext cx="4983480" cy="338328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00" b="0" i="0">
                <a:solidFill>
                  <a:srgbClr val="E6EDF7"/>
                </a:solidFill>
                <a:latin typeface="Courier New"/>
              </a:rPr>
              <a:t>SELECT Landing_Outcome, COUNT(*) AS Count</a:t>
            </a:r>
          </a:p>
          <a:p>
            <a:pPr algn="l"/>
            <a:r>
              <a:rPr sz="1300" b="0" i="0">
                <a:solidFill>
                  <a:srgbClr val="E6EDF7"/>
                </a:solidFill>
                <a:latin typeface="Courier New"/>
              </a:rPr>
              <a:t>FROM SPACEXTABLE</a:t>
            </a:r>
          </a:p>
          <a:p>
            <a:pPr algn="l"/>
            <a:r>
              <a:rPr sz="1300" b="0" i="0">
                <a:solidFill>
                  <a:srgbClr val="E6EDF7"/>
                </a:solidFill>
                <a:latin typeface="Courier New"/>
              </a:rPr>
              <a:t>WHERE Date BETWEEN '2010-06-04'</a:t>
            </a:r>
          </a:p>
          <a:p>
            <a:pPr algn="l"/>
            <a:r>
              <a:rPr sz="1300" b="0" i="0">
                <a:solidFill>
                  <a:srgbClr val="E6EDF7"/>
                </a:solidFill>
                <a:latin typeface="Courier New"/>
              </a:rPr>
              <a:t> </a:t>
            </a:r>
          </a:p>
          <a:p>
            <a:pPr algn="l"/>
            <a:r>
              <a:rPr sz="1300" b="0" i="0">
                <a:solidFill>
                  <a:srgbClr val="E6EDF7"/>
                </a:solidFill>
                <a:latin typeface="Courier New"/>
              </a:rPr>
              <a:t>  AND '2017-03-20'</a:t>
            </a:r>
          </a:p>
          <a:p>
            <a:pPr algn="l"/>
            <a:r>
              <a:rPr sz="1300" b="0" i="0">
                <a:solidFill>
                  <a:srgbClr val="E6EDF7"/>
                </a:solidFill>
                <a:latin typeface="Courier New"/>
              </a:rPr>
              <a:t>GROUP BY Landing_Outcome</a:t>
            </a:r>
          </a:p>
          <a:p>
            <a:pPr algn="l"/>
            <a:r>
              <a:rPr sz="1300" b="0" i="0">
                <a:solidFill>
                  <a:srgbClr val="E6EDF7"/>
                </a:solidFill>
                <a:latin typeface="Courier New"/>
              </a:rPr>
              <a:t>ORDER BY Count DESC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89320" y="1691640"/>
          <a:ext cx="3108958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39"/>
                <a:gridCol w="73151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badi"/>
                        </a:rPr>
                        <a:t>Landing_Outcome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badi"/>
                        </a:rPr>
                        <a:t>Count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No attempt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Success (drone ship)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Failure (drone ship)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Success (ground pad)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Controlled (ocean)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Uncontrolled (ocean)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Failure (parachute)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Precluded (drone ship)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235440" y="2157984"/>
            <a:ext cx="2011680" cy="164592"/>
          </a:xfrm>
          <a:prstGeom prst="roundRect">
            <a:avLst>
              <a:gd name="adj" fmla="val 30000"/>
            </a:avLst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5440" y="2523744"/>
            <a:ext cx="1005840" cy="164592"/>
          </a:xfrm>
          <a:prstGeom prst="roundRect">
            <a:avLst>
              <a:gd name="adj" fmla="val 30000"/>
            </a:avLst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5440" y="2889504"/>
            <a:ext cx="1005840" cy="164592"/>
          </a:xfrm>
          <a:prstGeom prst="roundRect">
            <a:avLst>
              <a:gd name="adj" fmla="val 3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35440" y="3255264"/>
            <a:ext cx="603504" cy="164592"/>
          </a:xfrm>
          <a:prstGeom prst="roundRect">
            <a:avLst>
              <a:gd name="adj" fmla="val 30000"/>
            </a:avLst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3621024"/>
            <a:ext cx="603504" cy="164592"/>
          </a:xfrm>
          <a:prstGeom prst="roundRect">
            <a:avLst>
              <a:gd name="adj" fmla="val 30000"/>
            </a:avLst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35440" y="3986784"/>
            <a:ext cx="402336" cy="164592"/>
          </a:xfrm>
          <a:prstGeom prst="roundRect">
            <a:avLst>
              <a:gd name="adj" fmla="val 3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35440" y="4352544"/>
            <a:ext cx="402336" cy="164592"/>
          </a:xfrm>
          <a:prstGeom prst="roundRect">
            <a:avLst>
              <a:gd name="adj" fmla="val 3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4718304"/>
            <a:ext cx="201168" cy="164592"/>
          </a:xfrm>
          <a:prstGeom prst="roundRect">
            <a:avLst>
              <a:gd name="adj" fmla="val 3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" y="525780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5257800"/>
            <a:ext cx="102412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Before mid-2017, “No attempt” was the most common outcome (10); drone-ship successes and failures were tied (5 vs. 5).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Folium Map Results: Launch Sites and Colour-Labelled Outcomes</a:t>
            </a:r>
          </a:p>
        </p:txBody>
      </p:sp>
      <p:pic>
        <p:nvPicPr>
          <p:cNvPr id="4" name="Picture 3" descr="map1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794967"/>
            <a:ext cx="4206240" cy="1850745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pic>
        <p:nvPicPr>
          <p:cNvPr id="5" name="Picture 4" descr="map2_ksc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1750422"/>
            <a:ext cx="3017520" cy="1939834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pic>
        <p:nvPicPr>
          <p:cNvPr id="6" name="Picture 5" descr="map2_ccafs_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1750422"/>
            <a:ext cx="3017520" cy="1939834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68096" y="4114800"/>
            <a:ext cx="42062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B49CB"/>
                </a:solidFill>
                <a:latin typeface="Abadi"/>
              </a:rPr>
              <a:t>All 4 launch-site markers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1496" y="411480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B49CB"/>
                </a:solidFill>
                <a:latin typeface="Abadi"/>
              </a:rPr>
              <a:t>KSC LC-39A: 10 green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66175" y="411480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B49CB"/>
                </a:solidFill>
                <a:latin typeface="Abadi"/>
              </a:rPr>
              <a:t>CCAFS LC-40 + SLC-40: 10 green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48056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All launch sites are on the coast (Florida ~28.5°N, California ~34.6°N), so rockets fly over the ocean and drone-ship recovery is possible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Green = landed, red = failed. Success ratio: KSC LC-39A 77%, CCAFS SLC-40 43%, VAFB SLC-4E 40%, CCAFS LC-40 27%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525780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5257800"/>
            <a:ext cx="102412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KSC LC-39A has the best success ratio; CCAFS LC-40 has the most failures because it hosted the early learning-phase flights.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Folium Map Results: Proximity of CCAFS SLC-40 to Coast, Roads, Rail and City</a:t>
            </a:r>
          </a:p>
        </p:txBody>
      </p:sp>
      <p:pic>
        <p:nvPicPr>
          <p:cNvPr id="9" name="Picture 8" descr="map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69" y="1417320"/>
            <a:ext cx="6949092" cy="406908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55279" y="1417320"/>
          <a:ext cx="3337559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9620"/>
                <a:gridCol w="129793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badi"/>
                        </a:rPr>
                        <a:t>Feature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Abadi"/>
                        </a:rPr>
                        <a:t>Distance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Coastline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0.49 km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Highway (SR-405)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9.53 km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Railway (mainline)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22.50 km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City (Titusville)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Abadi"/>
                        </a:rPr>
                        <a:t>23.20 km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55279" y="3429000"/>
            <a:ext cx="33375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Very close to the coast: safe abort and splash-down over the ocean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Kept away from cities, highways and mainline rail for public safety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525252"/>
                </a:solidFill>
                <a:latin typeface="Abadi"/>
              </a:rPr>
              <a:t>On-base roads and rail spurs are not in the 10 m basemap, so real access is closer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Plotly Dash Results: Launch Success Count for All Sites (Pie Chart)</a:t>
            </a:r>
          </a:p>
        </p:txBody>
      </p:sp>
      <p:pic>
        <p:nvPicPr>
          <p:cNvPr id="9" name="Picture 8" descr="dash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403" y="1417320"/>
            <a:ext cx="5420825" cy="365760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955279" y="1417320"/>
            <a:ext cx="333756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Dropdown = All Sites; the pie chart shows each site's share of all successful launches</a:t>
            </a:r>
          </a:p>
          <a:p>
            <a:pPr marL="429768" indent="-182880">
              <a:spcAft>
                <a:spcPts val="600"/>
              </a:spcAft>
              <a:buClr>
                <a:srgbClr val="0B49CB"/>
              </a:buClr>
              <a:buChar char="–"/>
            </a:pPr>
            <a:r>
              <a:rPr sz="1400" b="0" i="0">
                <a:solidFill>
                  <a:srgbClr val="1F2937"/>
                </a:solidFill>
                <a:latin typeface="Abadi"/>
              </a:rPr>
              <a:t>KSC LC-39A 41.7%</a:t>
            </a:r>
          </a:p>
          <a:p>
            <a:pPr marL="429768" indent="-182880">
              <a:spcAft>
                <a:spcPts val="600"/>
              </a:spcAft>
              <a:buClr>
                <a:srgbClr val="0B49CB"/>
              </a:buClr>
              <a:buChar char="–"/>
            </a:pPr>
            <a:r>
              <a:rPr sz="1400" b="0" i="0">
                <a:solidFill>
                  <a:srgbClr val="1F2937"/>
                </a:solidFill>
                <a:latin typeface="Abadi"/>
              </a:rPr>
              <a:t>CCAFS LC-40 29.2%</a:t>
            </a:r>
          </a:p>
          <a:p>
            <a:pPr marL="429768" indent="-182880">
              <a:spcAft>
                <a:spcPts val="600"/>
              </a:spcAft>
              <a:buClr>
                <a:srgbClr val="0B49CB"/>
              </a:buClr>
              <a:buChar char="–"/>
            </a:pPr>
            <a:r>
              <a:rPr sz="1400" b="0" i="0">
                <a:solidFill>
                  <a:srgbClr val="1F2937"/>
                </a:solidFill>
                <a:latin typeface="Abadi"/>
              </a:rPr>
              <a:t>VAFB SLC-4E 16.7%</a:t>
            </a:r>
          </a:p>
          <a:p>
            <a:pPr marL="429768" indent="-182880">
              <a:spcAft>
                <a:spcPts val="600"/>
              </a:spcAft>
              <a:buClr>
                <a:srgbClr val="0B49CB"/>
              </a:buClr>
              <a:buChar char="–"/>
            </a:pPr>
            <a:r>
              <a:rPr sz="1400" b="0" i="0">
                <a:solidFill>
                  <a:srgbClr val="1F2937"/>
                </a:solidFill>
                <a:latin typeface="Abadi"/>
              </a:rPr>
              <a:t>CCAFS SLC-40 12.5%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525780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5257800"/>
            <a:ext cx="102412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KSC LC-39A has the most successful launches of all sites, even though CCAFS LC-40 flew more launches (26 vs. 13).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Plotly Dash Results: KSC LC-39A, the Site with the Highest Success Ratio</a:t>
            </a:r>
          </a:p>
        </p:txBody>
      </p:sp>
      <p:pic>
        <p:nvPicPr>
          <p:cNvPr id="9" name="Picture 8" descr="dash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403" y="1417320"/>
            <a:ext cx="5420825" cy="365760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955279" y="141732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1490472"/>
            <a:ext cx="3154679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0B49CB"/>
                </a:solidFill>
                <a:latin typeface="Abadi"/>
              </a:rPr>
              <a:t>76.9%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2057400"/>
            <a:ext cx="3154679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Abadi"/>
              </a:rPr>
              <a:t>success ratio at KSC LC-39A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Abadi"/>
              </a:rPr>
              <a:t>(10 of 13 launches)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017520"/>
            <a:ext cx="333756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Pie chart for the selected site: 76.9% success vs. 23.1% failure (3 launches)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Other sites: CCAFS SLC-40 42.9%, VAFB SLC-4E 40.0%, CCAFS LC-40 26.9%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525780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5257800"/>
            <a:ext cx="102412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KSC LC-39A leads both in share of successes and in success ratio; it was used only after the early learning phase.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Plotly Dash Results: Payload vs. Launch Outcome for All Sites (Range Slider)</a:t>
            </a:r>
          </a:p>
        </p:txBody>
      </p:sp>
      <p:pic>
        <p:nvPicPr>
          <p:cNvPr id="13" name="Picture 12" descr="dash3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83" y="1371600"/>
            <a:ext cx="4589384" cy="342900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pic>
        <p:nvPicPr>
          <p:cNvPr id="14" name="Picture 13" descr="dash3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823" y="1371600"/>
            <a:ext cx="4589384" cy="342900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768096" y="4818888"/>
            <a:ext cx="5166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Slider 0–5,000 kg: 19 of 42 landed (45%)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4818888"/>
            <a:ext cx="5166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Slider 5,000–10,000 kg: 3 of 11 landed (27%)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521208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5212080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2,000–4,000 kg has the highest success rate (62%); 6,000–8,000 kg never landed. Booster FT (67%) and B4 (55%) perform best; v1.0 (0%) and v1.1 (7%) almost never landed.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Results: 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0" name="Picture 9" descr="ml_accurac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5" y="1417319"/>
            <a:ext cx="6400800" cy="352044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06640" y="1417320"/>
          <a:ext cx="3886199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3702"/>
                <a:gridCol w="826851"/>
                <a:gridCol w="826851"/>
                <a:gridCol w="578795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badi"/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badi"/>
                        </a:rPr>
                        <a:t>CV acc.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badi"/>
                        </a:rPr>
                        <a:t>Test acc.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badi"/>
                        </a:rPr>
                        <a:t>F1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Logistic Regression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82.1%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83.3%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0.89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SVM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84.8%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83.3%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0.89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Decision Tree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80.5%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72.2%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0.80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KNN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83.4%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83.3%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Abadi"/>
                        </a:rPr>
                        <a:t>0.89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406640" y="3429000"/>
            <a:ext cx="388620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LogReg, SVM and KNN tie at 83.3% test accuracy (15 of 18); Decision Tree 72.2%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Highest accuracy: SVM, with the best CV score (84.8%)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300" b="0" i="0">
                <a:solidFill>
                  <a:srgbClr val="1F2937"/>
                </a:solidFill>
                <a:latin typeface="Abadi"/>
              </a:rPr>
              <a:t>Repeated CV: SVM 84.8% ± 7.3% stays best (baseline 66.7%)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512064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5120640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Best model: SVM (sigmoid kernel, C = 1, γ = 0.032): 83.3% test accuracy and 84.8% CV accuracy.</a:t>
            </a: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Results: Confusion Matrix of the Best Model (SVM)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0" name="Picture 9" descr="ml_cm_sv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81" y="1417319"/>
            <a:ext cx="4245428" cy="356616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5760720" y="1417320"/>
            <a:ext cx="1737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1490472"/>
            <a:ext cx="155448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0B49CB"/>
                </a:solidFill>
                <a:latin typeface="Abad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2057400"/>
            <a:ext cx="1554480" cy="4114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Abadi"/>
              </a:rPr>
              <a:t>true positives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417320"/>
            <a:ext cx="1737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490472"/>
            <a:ext cx="155448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0B49CB"/>
                </a:solidFill>
                <a:latin typeface="Abad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057400"/>
            <a:ext cx="1554480" cy="4114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Abadi"/>
              </a:rPr>
              <a:t>true negatives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1417320"/>
            <a:ext cx="1874519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490472"/>
            <a:ext cx="1691639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E8590C"/>
                </a:solidFill>
                <a:latin typeface="Abad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057400"/>
            <a:ext cx="1691639" cy="4114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25252"/>
                </a:solidFill>
                <a:latin typeface="Abadi"/>
              </a:rPr>
              <a:t>false positives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743200"/>
            <a:ext cx="553212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Recall = 100%: every real landing is predicted correctly (0 false negatives)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Precision = 80%: the only error is predicting a landing for 3 boosters that were lost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400" b="0" i="0">
                <a:solidFill>
                  <a:srgbClr val="1F2937"/>
                </a:solidFill>
                <a:latin typeface="Abadi"/>
              </a:rPr>
              <a:t>LogReg and KNN give the same matrix; the Decision Tree also misses 2 landings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" y="512064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5120640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False positives are the costly error for a bidder: they make SpaceX look cheaper than it is.</a:t>
            </a: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8096" y="1417320"/>
            <a:ext cx="51206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490472"/>
            <a:ext cx="47548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0B49CB"/>
                </a:solidFill>
                <a:latin typeface="Abadi"/>
              </a:rPr>
              <a:t>Experience drives 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1874519"/>
            <a:ext cx="4754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badi"/>
              </a:rPr>
              <a:t>Landing success rose from 0% (2010–13) to 84–90% (2019–20); flights 61–90 landed 83% of the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417320"/>
            <a:ext cx="51206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490472"/>
            <a:ext cx="47548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0B49CB"/>
                </a:solidFill>
                <a:latin typeface="Abadi"/>
              </a:rPr>
              <a:t>Hardware beats geography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1874519"/>
            <a:ext cx="4754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badi"/>
              </a:rPr>
              <a:t>Legs, grid fins, Block 5 and booster reuse have the strongest associations with landing.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2880360"/>
            <a:ext cx="51206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953512"/>
            <a:ext cx="47548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0B49CB"/>
                </a:solidFill>
                <a:latin typeface="Abadi"/>
              </a:rPr>
              <a:t>Sites &amp; orbits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337560"/>
            <a:ext cx="4754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badi"/>
              </a:rPr>
              <a:t>KSC LC-39A has the best success ratio (77%). ES-L1, GEO, HEO, SSO were 100% but rare; GTO is hardest (52%).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7336" y="2880360"/>
            <a:ext cx="51206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2953512"/>
            <a:ext cx="47548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0B49CB"/>
                </a:solidFill>
                <a:latin typeface="Abadi"/>
              </a:rPr>
              <a:t>Payload is secondary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3337560"/>
            <a:ext cx="4754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badi"/>
              </a:rPr>
              <a:t>2,000–4,000 kg is the sweet spot; heavy LEO/VLEO payloads land well, GTO is uncertain at any mass.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" y="4343400"/>
            <a:ext cx="51206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416552"/>
            <a:ext cx="47548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0B49CB"/>
                </a:solidFill>
                <a:latin typeface="Abadi"/>
              </a:rPr>
              <a:t>Prediction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800600"/>
            <a:ext cx="4754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badi"/>
              </a:rPr>
              <a:t>SVM is the best model: 83.3% test and 84.8% CV accuracy, with no missed landings.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17336" y="4343400"/>
            <a:ext cx="5120640" cy="1298448"/>
          </a:xfrm>
          <a:prstGeom prst="roundRect">
            <a:avLst>
              <a:gd name="adj" fmla="val 6000"/>
            </a:avLst>
          </a:prstGeom>
          <a:solidFill>
            <a:srgbClr val="0B49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216" y="4416552"/>
            <a:ext cx="47548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badi"/>
              </a:rPr>
              <a:t>Next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4800600"/>
            <a:ext cx="4754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Abadi"/>
              </a:rPr>
              <a:t>Add weather and booster-age features, weight recent flights, and retrain on post-2020 launches.</a:t>
            </a: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2" name="Picture 11" descr="ml_cm_a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366" y="1371600"/>
            <a:ext cx="8875058" cy="251460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68096" y="4023360"/>
            <a:ext cx="1042416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200" b="0" i="0">
                <a:solidFill>
                  <a:srgbClr val="1F2937"/>
                </a:solidFill>
                <a:latin typeface="Abadi"/>
              </a:rPr>
              <a:t>Confusion matrices of all 4 models on the 18-launch test set; top features: FlightNumber, PayloadMass, GridFins, ReusedCount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200" b="0" i="0">
                <a:solidFill>
                  <a:srgbClr val="1F2937"/>
                </a:solidFill>
                <a:latin typeface="Abadi"/>
              </a:rPr>
              <a:t>Data: dataset_part_1/2/3.csv, Spacex.csv (101 rows), spacex_launch_geo.csv / spacex_launch_dash.csv (56 rows)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200" b="0" i="0">
                <a:solidFill>
                  <a:srgbClr val="1F2937"/>
                </a:solidFill>
                <a:latin typeface="Abadi"/>
              </a:rPr>
              <a:t>Environment: Python 3, pandas, scikit-learn, seaborn, folium, dash/plotly, SQLite; split random_state = 2</a:t>
            </a:r>
          </a:p>
          <a:p>
            <a:pPr marL="201168" indent="-182880">
              <a:spcAft>
                <a:spcPts val="600"/>
              </a:spcAft>
              <a:buClr>
                <a:srgbClr val="0B49CB"/>
              </a:buClr>
              <a:buChar char="•"/>
            </a:pPr>
            <a:r>
              <a:rPr sz="1200" b="0" i="0">
                <a:solidFill>
                  <a:srgbClr val="1F2937"/>
                </a:solidFill>
                <a:latin typeface="Abadi"/>
              </a:rPr>
              <a:t>Folium basemap: Natural Earth 10 m layers; distances are Haversine to the nearest mapped 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596128"/>
            <a:ext cx="1042416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Abadi"/>
              </a:rPr>
              <a:t>GitHub repository (all notebooks + Dash app): </a:t>
            </a:r>
            <a:r>
              <a:rPr sz="1200" b="0" i="0">
                <a:solidFill>
                  <a:srgbClr val="1C7DDB"/>
                </a:solidFill>
                <a:latin typeface="Abadi"/>
                <a:hlinkClick r:id="rId5"/>
              </a:rPr>
              <a:t>https://github.com/martimramos/ibmds</a:t>
            </a:r>
            <a:r>
              <a:rPr sz="1200" b="0" i="0">
                <a:solidFill>
                  <a:srgbClr val="525252"/>
                </a:solidFill>
                <a:latin typeface="Abad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Innovative Insights: Hardware and the Learning Curve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2" name="Picture 11" descr="insight_h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384300"/>
            <a:ext cx="4572000" cy="3174999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pic>
        <p:nvPicPr>
          <p:cNvPr id="13" name="Picture 12" descr="insight_roll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696" y="1371600"/>
            <a:ext cx="5669280" cy="2834640"/>
          </a:xfrm>
          <a:prstGeom prst="rect">
            <a:avLst/>
          </a:prstGeom>
          <a:ln w="9525">
            <a:solidFill>
              <a:srgbClr val="D0D7E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68096" y="4617720"/>
            <a:ext cx="4572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Abadi"/>
              </a:rPr>
              <a:t>Launches without legs / grid fins were not landing attempts. Among the 71 real attempts, 83% landed; reused boosters 78% vs. new 58%; Block 5 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2976" y="4251960"/>
            <a:ext cx="57607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Abadi"/>
              </a:rPr>
              <a:t>10-flight rolling success rate: flights 1–30 43%, 31–60 73%, 61–90 83%. It first reached 80% at flight 29 and ended at 100%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525780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5257800"/>
            <a:ext cx="102412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For a competitor, the key question is “will SpaceX attempt a landing?”. When it does, it usually succeeds, and recent flights matter most.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SQL: Payload Totals, Averages and First Landing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096" y="132588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Q3  </a:t>
            </a:r>
            <a:r>
              <a:rPr sz="1300" b="1" i="0">
                <a:solidFill>
                  <a:srgbClr val="1F2937"/>
                </a:solidFill>
                <a:latin typeface="Abadi"/>
              </a:rPr>
              <a:t>Total payload mass carried by boosters for NASA (CRS)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1627632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SELECT SUM(PAYLOAD_MASS__KG_) AS Total_Payload_kg</a:t>
            </a:r>
          </a:p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FROM SPACEXTABLE</a:t>
            </a:r>
          </a:p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WHERE Customer = 'NASA (CRS)'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484632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0B49CB"/>
                </a:solidFill>
                <a:latin typeface="Abadi"/>
              </a:rPr>
              <a:t>45,596 kg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badi"/>
              </a:rPr>
              <a:t>NASA's CRS resupply missions: a key recurring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33172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Q4  </a:t>
            </a:r>
            <a:r>
              <a:rPr sz="1300" b="1" i="0">
                <a:solidFill>
                  <a:srgbClr val="1F2937"/>
                </a:solidFill>
                <a:latin typeface="Abadi"/>
              </a:rPr>
              <a:t>Average payload mass carried by booster version F9 v1.1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2633472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SELECT AVG(PAYLOAD_MASS__KG_) AS Avg_Payload_kg</a:t>
            </a:r>
          </a:p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FROM SPACEXTABLE</a:t>
            </a:r>
          </a:p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WHERE Booster_Version = 'F9 v1.1'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33472"/>
            <a:ext cx="484632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0B49CB"/>
                </a:solidFill>
                <a:latin typeface="Abadi"/>
              </a:rPr>
              <a:t>2,928.4 kg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badi"/>
              </a:rPr>
              <a:t>(2,534.7 kg if LIKE 'F9 v1.1%' includes all v1.1 serials)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33756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Q5  </a:t>
            </a:r>
            <a:r>
              <a:rPr sz="1300" b="1" i="0">
                <a:solidFill>
                  <a:srgbClr val="1F2937"/>
                </a:solidFill>
                <a:latin typeface="Abadi"/>
              </a:rPr>
              <a:t>Date of the first successful landing on a ground pad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3639312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SELECT MIN(Date) AS First_Ground_Pad_Success</a:t>
            </a:r>
          </a:p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FROM SPACEXTABLE</a:t>
            </a:r>
          </a:p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WHERE Landing_Outcome = 'Success (ground pad)'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39312"/>
            <a:ext cx="484632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0B49CB"/>
                </a:solidFill>
                <a:latin typeface="Abadi"/>
              </a:rPr>
              <a:t>2015-12-22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badi"/>
              </a:rPr>
              <a:t>ORBCOMM-2 (RTLS), 5 years after the first Falcon 9 flight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3434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Q6  </a:t>
            </a:r>
            <a:r>
              <a:rPr sz="1300" b="1" i="0">
                <a:solidFill>
                  <a:srgbClr val="1F2937"/>
                </a:solidFill>
                <a:latin typeface="Abadi"/>
              </a:rPr>
              <a:t>Boosters with drone-ship success and 4,000 &lt; payload &lt; 6,000 kg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" y="4645152"/>
            <a:ext cx="5486400" cy="77724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000" b="0" i="0">
                <a:solidFill>
                  <a:srgbClr val="E6EDF7"/>
                </a:solidFill>
                <a:latin typeface="Courier New"/>
              </a:rPr>
              <a:t>SELECT Booster_Version</a:t>
            </a:r>
          </a:p>
          <a:p>
            <a:pPr algn="l"/>
            <a:r>
              <a:rPr sz="1000" b="0" i="0">
                <a:solidFill>
                  <a:srgbClr val="E6EDF7"/>
                </a:solidFill>
                <a:latin typeface="Courier New"/>
              </a:rPr>
              <a:t>FROM SPACEXTABLE</a:t>
            </a:r>
          </a:p>
          <a:p>
            <a:pPr algn="l"/>
            <a:r>
              <a:rPr sz="1000" b="0" i="0">
                <a:solidFill>
                  <a:srgbClr val="E6EDF7"/>
                </a:solidFill>
                <a:latin typeface="Courier New"/>
              </a:rPr>
              <a:t>WHERE Landing_Outcome = 'Success (drone ship)'</a:t>
            </a:r>
          </a:p>
          <a:p>
            <a:pPr algn="l"/>
            <a:r>
              <a:rPr sz="1000" b="0" i="0">
                <a:solidFill>
                  <a:srgbClr val="E6EDF7"/>
                </a:solidFill>
                <a:latin typeface="Courier New"/>
              </a:rPr>
              <a:t>  AND PAYLOAD_MASS__KG_ &gt; 4000</a:t>
            </a:r>
          </a:p>
          <a:p>
            <a:pPr algn="l"/>
            <a:r>
              <a:rPr sz="1000" b="0" i="0">
                <a:solidFill>
                  <a:srgbClr val="E6EDF7"/>
                </a:solidFill>
                <a:latin typeface="Courier New"/>
              </a:rPr>
              <a:t>  AND PAYLOAD_MASS__KG_ &lt; 6000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645152"/>
            <a:ext cx="48463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0B49CB"/>
                </a:solidFill>
                <a:latin typeface="Abadi"/>
              </a:rPr>
              <a:t>4 boosters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badi"/>
              </a:rPr>
              <a:t>F9 FT B1022, F9 FT B1026, F9 FT  B1021.2, F9 FT  B1031.2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badi"/>
              </a:rPr>
              <a:t>All Falcon 9 FT; two (.2) were reused boosters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SQL: Mission Outcomes, Max Payload and 2015 Failures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096" y="132588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Q7  </a:t>
            </a:r>
            <a:r>
              <a:rPr sz="1300" b="1" i="0">
                <a:solidFill>
                  <a:srgbClr val="1F2937"/>
                </a:solidFill>
                <a:latin typeface="Abadi"/>
              </a:rPr>
              <a:t>Total number of successful and failure mission outcomes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1627632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SELECT Mission_Outcome, COUNT(*) AS Total</a:t>
            </a:r>
          </a:p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FROM SPACEXTABLE</a:t>
            </a:r>
          </a:p>
          <a:p>
            <a:pPr algn="l"/>
            <a:r>
              <a:rPr sz="1100" b="0" i="0">
                <a:solidFill>
                  <a:srgbClr val="E6EDF7"/>
                </a:solidFill>
                <a:latin typeface="Courier New"/>
              </a:rPr>
              <a:t>GROUP BY Mission_Outcome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46520" y="1627632"/>
          <a:ext cx="484631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34739"/>
                <a:gridCol w="1211580"/>
              </a:tblGrid>
              <a:tr h="1828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badi"/>
                        </a:rPr>
                        <a:t>Mission_Outcome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badi"/>
                        </a:rPr>
                        <a:t>Total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Failure (in flight)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Success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98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Success 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Success (payload status unclear)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68096" y="260604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Q8  </a:t>
            </a:r>
            <a:r>
              <a:rPr sz="1300" b="1" i="0">
                <a:solidFill>
                  <a:srgbClr val="1F2937"/>
                </a:solidFill>
                <a:latin typeface="Abadi"/>
              </a:rPr>
              <a:t>Boosters that carried the maximum payload mass (sub-query)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2907792"/>
            <a:ext cx="5486400" cy="82296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000" b="0" i="0">
                <a:solidFill>
                  <a:srgbClr val="E6EDF7"/>
                </a:solidFill>
                <a:latin typeface="Courier New"/>
              </a:rPr>
              <a:t>SELECT Booster_Version</a:t>
            </a:r>
          </a:p>
          <a:p>
            <a:pPr algn="l"/>
            <a:r>
              <a:rPr sz="1000" b="0" i="0">
                <a:solidFill>
                  <a:srgbClr val="E6EDF7"/>
                </a:solidFill>
                <a:latin typeface="Courier New"/>
              </a:rPr>
              <a:t>FROM SPACEXTABLE</a:t>
            </a:r>
          </a:p>
          <a:p>
            <a:pPr algn="l"/>
            <a:r>
              <a:rPr sz="1000" b="0" i="0">
                <a:solidFill>
                  <a:srgbClr val="E6EDF7"/>
                </a:solidFill>
                <a:latin typeface="Courier New"/>
              </a:rPr>
              <a:t>WHERE PAYLOAD_MASS__KG_ = </a:t>
            </a:r>
          </a:p>
          <a:p>
            <a:pPr algn="l"/>
            <a:r>
              <a:rPr sz="1000" b="0" i="0">
                <a:solidFill>
                  <a:srgbClr val="E6EDF7"/>
                </a:solidFill>
                <a:latin typeface="Courier New"/>
              </a:rPr>
              <a:t>  (SELECT MAX(PAYLOAD_MASS__KG_)</a:t>
            </a:r>
          </a:p>
          <a:p>
            <a:pPr algn="l"/>
            <a:r>
              <a:rPr sz="1000" b="0" i="0">
                <a:solidFill>
                  <a:srgbClr val="E6EDF7"/>
                </a:solidFill>
                <a:latin typeface="Courier New"/>
              </a:rPr>
              <a:t>FROM SPACEXTABLE)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907792"/>
            <a:ext cx="48463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200"/>
              </a:spcAft>
            </a:pPr>
            <a:r>
              <a:rPr sz="2000" b="1" i="0">
                <a:solidFill>
                  <a:srgbClr val="0B49CB"/>
                </a:solidFill>
                <a:latin typeface="Abadi"/>
              </a:rPr>
              <a:t>12 boosters · 15,600 kg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badi"/>
              </a:rPr>
              <a:t>F9 B5 B1048.4, F9 B5 B1049.4, F9 B5 B1051.3, F9 B5 B1056.4, F9 B5 B1048.5, F9 B5 B1051.4, F9 B5 B1049.5, F9 B5 B1060.2, F9 B5 B1058.3, F9 B5 B1051.6, F9 B5 B1060.3, F9 B5 B1049.7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Abadi"/>
              </a:rPr>
              <a:t>All Block 5 boosters, many reused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886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Q9  </a:t>
            </a:r>
            <a:r>
              <a:rPr sz="1300" b="1" i="0">
                <a:solidFill>
                  <a:srgbClr val="1F2937"/>
                </a:solidFill>
                <a:latin typeface="Abadi"/>
              </a:rPr>
              <a:t>Failed drone-ship landings in 2015: month, booster version, launch site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" y="4187952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16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000" b="0" i="0">
                <a:solidFill>
                  <a:srgbClr val="E6EDF7"/>
                </a:solidFill>
                <a:latin typeface="Courier New"/>
              </a:rPr>
              <a:t>SELECT substr(Date,6,2) AS Month,</a:t>
            </a:r>
          </a:p>
          <a:p>
            <a:pPr algn="l"/>
            <a:r>
              <a:rPr sz="1000" b="0" i="0">
                <a:solidFill>
                  <a:srgbClr val="E6EDF7"/>
                </a:solidFill>
                <a:latin typeface="Courier New"/>
              </a:rPr>
              <a:t>  Landing_Outcome, Booster_Version, Launch_Site</a:t>
            </a:r>
          </a:p>
          <a:p>
            <a:pPr algn="l"/>
            <a:r>
              <a:rPr sz="1000" b="0" i="0">
                <a:solidFill>
                  <a:srgbClr val="E6EDF7"/>
                </a:solidFill>
                <a:latin typeface="Courier New"/>
              </a:rPr>
              <a:t>FROM SPACEXTABLE</a:t>
            </a:r>
          </a:p>
          <a:p>
            <a:pPr algn="l"/>
            <a:r>
              <a:rPr sz="1000" b="0" i="0">
                <a:solidFill>
                  <a:srgbClr val="E6EDF7"/>
                </a:solidFill>
                <a:latin typeface="Courier New"/>
              </a:rPr>
              <a:t>WHERE substr(Date,1,4)='2015'</a:t>
            </a:r>
          </a:p>
          <a:p>
            <a:pPr algn="l"/>
            <a:r>
              <a:rPr sz="1000" b="0" i="0">
                <a:solidFill>
                  <a:srgbClr val="E6EDF7"/>
                </a:solidFill>
                <a:latin typeface="Courier New"/>
              </a:rPr>
              <a:t>  AND Landing_Outcome = 'Failure (drone ship)'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46520" y="4187952"/>
          <a:ext cx="4846319" cy="7680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5331"/>
                <a:gridCol w="1563329"/>
                <a:gridCol w="1406996"/>
                <a:gridCol w="1250663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badi"/>
                        </a:rPr>
                        <a:t>Month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badi"/>
                        </a:rPr>
                        <a:t>Landing_Outcome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badi"/>
                        </a:rPr>
                        <a:t>Booster_Version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badi"/>
                        </a:rPr>
                        <a:t>Launch_Site</a:t>
                      </a:r>
                    </a:p>
                  </a:txBody>
                  <a:tcPr marL="54864" marR="54864" marT="18288" marB="18288" anchor="ctr">
                    <a:solidFill>
                      <a:srgbClr val="0B49C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Failure (drone ship)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F9 v1.1 B1012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04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Failure (drone ship)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F9 v1.1 B1015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7"/>
                          </a:solidFill>
                          <a:latin typeface="Abadi"/>
                        </a:rP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68096" y="525780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5257800"/>
            <a:ext cx="102412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B49CB"/>
                </a:solidFill>
                <a:latin typeface="Abadi"/>
              </a:rPr>
              <a:t>Key insight  </a:t>
            </a:r>
            <a:r>
              <a:rPr sz="1300" b="0" i="0">
                <a:solidFill>
                  <a:srgbClr val="1F2937"/>
                </a:solidFill>
                <a:latin typeface="Abadi"/>
              </a:rPr>
              <a:t>100 of 101 missions succeeded: the risk is in landing the booster, not in reaching orbit.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1346</Words>
  <Application>Microsoft Macintosh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Abadi</vt:lpstr>
      <vt:lpstr>Arial</vt:lpstr>
      <vt:lpstr>Calibri</vt:lpstr>
      <vt:lpstr>Calibri Light</vt:lpstr>
      <vt:lpstr>IBM Plex Mono SemiBold</vt:lpstr>
      <vt:lpstr>IBM Plex Mono Text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YAN Luo</cp:lastModifiedBy>
  <cp:revision>198</cp:revision>
  <dcterms:created xsi:type="dcterms:W3CDTF">2021-04-29T18:58:34Z</dcterms:created>
  <dcterms:modified xsi:type="dcterms:W3CDTF">2022-01-27T14:48:39Z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